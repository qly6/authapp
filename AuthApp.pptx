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983" autoAdjust="0"/>
  </p:normalViewPr>
  <p:slideViewPr>
    <p:cSldViewPr snapToGrid="0">
      <p:cViewPr varScale="1">
        <p:scale>
          <a:sx n="90" d="100"/>
          <a:sy n="90" d="100"/>
        </p:scale>
        <p:origin x="135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E1486F-8D4D-432D-A18E-32C7F6081F21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4214CA-9F50-4E80-87D0-EA918655B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585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sp.net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VPC với public/private subnets (AZ ap-southeast-1a, 1b)</a:t>
            </a:r>
          </a:p>
          <a:p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EKS Cluster (control plane private endpoint)</a:t>
            </a:r>
          </a:p>
          <a:p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Managed Node Group (t3.small x 2) trong private subnet</a:t>
            </a:r>
          </a:p>
          <a:p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ALB (Internet-facing) đứng trước, route đến service trong EKS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4214CA-9F50-4E80-87D0-EA918655BF0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8624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Frontend UI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(Angular) – container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chạy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Nginx,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gọi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API qua internal service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Backend API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ASP.NET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Core) –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logic, JWT, Entity Framework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PostgreSQL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Bitnami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Helm chart, persistent volume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qua Service Kubernetes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ClusterIP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4214CA-9F50-4E80-87D0-EA918655BF0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623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Developer push code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GitHub (branch main)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 Actions trigger workflow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deploy.yml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 Docker image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Backend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Frontend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Push image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Amazon ECR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Helm values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mới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Chạy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helm upgrade --install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EKS cluster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ALB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routing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4214CA-9F50-4E80-87D0-EA918655BF0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613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AEB2B-6EA4-416D-8246-18E81132A993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300C5-83B2-4AA9-AE9E-64EAF06C99D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8815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AEB2B-6EA4-416D-8246-18E81132A993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300C5-83B2-4AA9-AE9E-64EAF06C9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172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AEB2B-6EA4-416D-8246-18E81132A993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300C5-83B2-4AA9-AE9E-64EAF06C99D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3024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AEB2B-6EA4-416D-8246-18E81132A993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300C5-83B2-4AA9-AE9E-64EAF06C9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839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AEB2B-6EA4-416D-8246-18E81132A993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300C5-83B2-4AA9-AE9E-64EAF06C9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756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AEB2B-6EA4-416D-8246-18E81132A993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300C5-83B2-4AA9-AE9E-64EAF06C9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72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AEB2B-6EA4-416D-8246-18E81132A993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300C5-83B2-4AA9-AE9E-64EAF06C9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527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89AEB2B-6EA4-416D-8246-18E81132A993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34300C5-83B2-4AA9-AE9E-64EAF06C9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8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AEB2B-6EA4-416D-8246-18E81132A993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300C5-83B2-4AA9-AE9E-64EAF06C9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131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AEB2B-6EA4-416D-8246-18E81132A993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300C5-83B2-4AA9-AE9E-64EAF06C9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508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AEB2B-6EA4-416D-8246-18E81132A993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300C5-83B2-4AA9-AE9E-64EAF06C9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693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9AEB2B-6EA4-416D-8246-18E81132A993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34300C5-83B2-4AA9-AE9E-64EAF06C99DD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0710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asp.net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7DD98-FAC5-2F67-F739-041EF46E11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sz="7200" b="1" dirty="0"/>
              <a:t>HỆ THỐNG XÁC THỰC (SIMPLEAUTH) </a:t>
            </a:r>
            <a:br>
              <a:rPr lang="en-US" sz="7200" b="1" dirty="0"/>
            </a:br>
            <a:r>
              <a:rPr lang="en-US" sz="7200" b="1" dirty="0"/>
              <a:t>TRÊN AWS EKS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700822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8E7EA-B834-0319-DB74-4CF3199D4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MỤC TIÊU &amp; TỔNG QUAN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4A42D-C913-69AC-18A8-CE12B11A2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8360"/>
            <a:ext cx="10515600" cy="3121279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vi-VN" dirty="0"/>
              <a:t>Xây dựng hệ thống xác thực (đăng ký, đăng nhập, JWT) trên nền tảng AWS.</a:t>
            </a:r>
          </a:p>
          <a:p>
            <a:pPr marL="514350" indent="-514350">
              <a:buFont typeface="+mj-lt"/>
              <a:buAutoNum type="arabicPeriod"/>
            </a:pPr>
            <a:r>
              <a:rPr lang="vi-VN" dirty="0"/>
              <a:t>Ứng dụng containerized, triển khai trên Kubernetes (EKS).</a:t>
            </a:r>
          </a:p>
          <a:p>
            <a:pPr marL="514350" indent="-514350">
              <a:buFont typeface="+mj-lt"/>
              <a:buAutoNum type="arabicPeriod"/>
            </a:pPr>
            <a:r>
              <a:rPr lang="vi-VN" dirty="0"/>
              <a:t>Tự động hóa toàn bộ hạ tầng (IaC) và CI/CD.</a:t>
            </a:r>
          </a:p>
          <a:p>
            <a:pPr marL="514350" indent="-514350">
              <a:buFont typeface="+mj-lt"/>
              <a:buAutoNum type="arabicPeriod"/>
            </a:pPr>
            <a:r>
              <a:rPr lang="vi-VN" dirty="0"/>
              <a:t>Đảm bảo bảo mật, khả năng mở rộng và chi phí tối ưu cho môi trường dev.</a:t>
            </a:r>
          </a:p>
        </p:txBody>
      </p:sp>
    </p:spTree>
    <p:extLst>
      <p:ext uri="{BB962C8B-B14F-4D97-AF65-F5344CB8AC3E}">
        <p14:creationId xmlns:p14="http://schemas.microsoft.com/office/powerpoint/2010/main" val="643046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52988-9EC7-8E4C-380B-A39411D6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Technology Stack 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2170A2D-BBAD-4C67-8239-FAA8976439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376573"/>
              </p:ext>
            </p:extLst>
          </p:nvPr>
        </p:nvGraphicFramePr>
        <p:xfrm>
          <a:off x="707136" y="1698880"/>
          <a:ext cx="10777728" cy="4640461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3592576">
                  <a:extLst>
                    <a:ext uri="{9D8B030D-6E8A-4147-A177-3AD203B41FA5}">
                      <a16:colId xmlns:a16="http://schemas.microsoft.com/office/drawing/2014/main" val="1347817713"/>
                    </a:ext>
                  </a:extLst>
                </a:gridCol>
                <a:gridCol w="3592576">
                  <a:extLst>
                    <a:ext uri="{9D8B030D-6E8A-4147-A177-3AD203B41FA5}">
                      <a16:colId xmlns:a16="http://schemas.microsoft.com/office/drawing/2014/main" val="1674280132"/>
                    </a:ext>
                  </a:extLst>
                </a:gridCol>
                <a:gridCol w="3592576">
                  <a:extLst>
                    <a:ext uri="{9D8B030D-6E8A-4147-A177-3AD203B41FA5}">
                      <a16:colId xmlns:a16="http://schemas.microsoft.com/office/drawing/2014/main" val="3945944449"/>
                    </a:ext>
                  </a:extLst>
                </a:gridCol>
              </a:tblGrid>
              <a:tr h="281903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200" b="1" dirty="0">
                          <a:effectLst/>
                        </a:rPr>
                        <a:t>THÀNH PHẦN</a:t>
                      </a:r>
                      <a:endParaRPr lang="en-US" sz="1200" b="1" dirty="0">
                        <a:effectLst/>
                        <a:latin typeface="quote-cjk-patch"/>
                      </a:endParaRPr>
                    </a:p>
                  </a:txBody>
                  <a:tcPr marL="61310" marR="102184" marT="63865" marB="6386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200" b="1" dirty="0">
                          <a:effectLst/>
                        </a:rPr>
                        <a:t>CÔNG NGHỆ</a:t>
                      </a:r>
                      <a:endParaRPr lang="en-US" sz="1200" b="1" dirty="0">
                        <a:effectLst/>
                        <a:latin typeface="quote-cjk-patch"/>
                      </a:endParaRPr>
                    </a:p>
                  </a:txBody>
                  <a:tcPr marL="102184" marR="102184" marT="63865" marB="6386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200" b="1" dirty="0">
                          <a:effectLst/>
                        </a:rPr>
                        <a:t>LÝ DO</a:t>
                      </a:r>
                      <a:endParaRPr lang="en-US" sz="1200" b="1" dirty="0">
                        <a:effectLst/>
                        <a:latin typeface="quote-cjk-patch"/>
                      </a:endParaRPr>
                    </a:p>
                  </a:txBody>
                  <a:tcPr marL="102184" marR="102184" marT="63865" marB="63865" anchor="ctr"/>
                </a:tc>
                <a:extLst>
                  <a:ext uri="{0D108BD9-81ED-4DB2-BD59-A6C34878D82A}">
                    <a16:rowId xmlns:a16="http://schemas.microsoft.com/office/drawing/2014/main" val="35859735"/>
                  </a:ext>
                </a:extLst>
              </a:tr>
              <a:tr h="476833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200" b="0" dirty="0">
                          <a:effectLst/>
                        </a:rPr>
                        <a:t>Cloud</a:t>
                      </a:r>
                      <a:endParaRPr lang="en-US" sz="1200" b="0" dirty="0">
                        <a:effectLst/>
                        <a:latin typeface="quote-cjk-patch"/>
                      </a:endParaRPr>
                    </a:p>
                  </a:txBody>
                  <a:tcPr marL="61310" marR="102184" marT="63865" marB="6386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200" b="0">
                          <a:effectLst/>
                        </a:rPr>
                        <a:t>AWS</a:t>
                      </a:r>
                      <a:endParaRPr lang="en-US" sz="1200" b="0">
                        <a:effectLst/>
                        <a:latin typeface="quote-cjk-patch"/>
                      </a:endParaRPr>
                    </a:p>
                  </a:txBody>
                  <a:tcPr marL="102184" marR="102184" marT="63865" marB="6386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200" b="0">
                          <a:effectLst/>
                        </a:rPr>
                        <a:t>Thị phần lớn, tích hợp IaC/CI/CD tốt</a:t>
                      </a:r>
                      <a:endParaRPr lang="en-US" sz="1200" b="0">
                        <a:effectLst/>
                        <a:latin typeface="quote-cjk-patch"/>
                      </a:endParaRPr>
                    </a:p>
                  </a:txBody>
                  <a:tcPr marL="102184" marR="61310" marT="63865" marB="63865" anchor="ctr"/>
                </a:tc>
                <a:extLst>
                  <a:ext uri="{0D108BD9-81ED-4DB2-BD59-A6C34878D82A}">
                    <a16:rowId xmlns:a16="http://schemas.microsoft.com/office/drawing/2014/main" val="1799673917"/>
                  </a:ext>
                </a:extLst>
              </a:tr>
              <a:tr h="476833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200" b="0">
                          <a:effectLst/>
                        </a:rPr>
                        <a:t>Hạ tầng K8s</a:t>
                      </a:r>
                      <a:endParaRPr lang="en-US" sz="1200" b="0">
                        <a:effectLst/>
                        <a:latin typeface="quote-cjk-patch"/>
                      </a:endParaRPr>
                    </a:p>
                  </a:txBody>
                  <a:tcPr marL="61310" marR="102184" marT="63865" marB="6386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200" b="0">
                          <a:effectLst/>
                        </a:rPr>
                        <a:t>Amazon EKS</a:t>
                      </a:r>
                      <a:endParaRPr lang="en-US" sz="1200" b="0">
                        <a:effectLst/>
                        <a:latin typeface="quote-cjk-patch"/>
                      </a:endParaRPr>
                    </a:p>
                  </a:txBody>
                  <a:tcPr marL="102184" marR="102184" marT="63865" marB="6386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200" b="0">
                          <a:effectLst/>
                        </a:rPr>
                        <a:t>Quản lý container tự động, dễ mở rộng</a:t>
                      </a:r>
                      <a:endParaRPr lang="en-US" sz="1200" b="0">
                        <a:effectLst/>
                        <a:latin typeface="quote-cjk-patch"/>
                      </a:endParaRPr>
                    </a:p>
                  </a:txBody>
                  <a:tcPr marL="102184" marR="61310" marT="63865" marB="63865" anchor="ctr"/>
                </a:tc>
                <a:extLst>
                  <a:ext uri="{0D108BD9-81ED-4DB2-BD59-A6C34878D82A}">
                    <a16:rowId xmlns:a16="http://schemas.microsoft.com/office/drawing/2014/main" val="3849922547"/>
                  </a:ext>
                </a:extLst>
              </a:tr>
              <a:tr h="476833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200" b="0">
                          <a:effectLst/>
                        </a:rPr>
                        <a:t>Backend</a:t>
                      </a:r>
                      <a:endParaRPr lang="en-US" sz="1200" b="0">
                        <a:effectLst/>
                        <a:latin typeface="quote-cjk-patch"/>
                      </a:endParaRPr>
                    </a:p>
                  </a:txBody>
                  <a:tcPr marL="61310" marR="102184" marT="63865" marB="6386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200" b="0" u="none" strike="noStrike">
                          <a:solidFill>
                            <a:srgbClr val="679EFE"/>
                          </a:solidFill>
                          <a:effectLst/>
                          <a:hlinkClick r:id="rId2"/>
                        </a:rPr>
                        <a:t>ASP.NET</a:t>
                      </a:r>
                      <a:r>
                        <a:rPr lang="en-US" sz="1200" b="0">
                          <a:effectLst/>
                        </a:rPr>
                        <a:t> Core Web API</a:t>
                      </a:r>
                      <a:endParaRPr lang="en-US" sz="1200" b="0">
                        <a:effectLst/>
                        <a:latin typeface="quote-cjk-patch"/>
                      </a:endParaRPr>
                    </a:p>
                  </a:txBody>
                  <a:tcPr marL="102184" marR="102184" marT="63865" marB="6386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200" b="0">
                          <a:effectLst/>
                        </a:rPr>
                        <a:t>Hiệu năng cao, cross-platform, dễ Docker</a:t>
                      </a:r>
                      <a:endParaRPr lang="en-US" sz="1200" b="0">
                        <a:effectLst/>
                        <a:latin typeface="quote-cjk-patch"/>
                      </a:endParaRPr>
                    </a:p>
                  </a:txBody>
                  <a:tcPr marL="102184" marR="61310" marT="63865" marB="63865" anchor="ctr"/>
                </a:tc>
                <a:extLst>
                  <a:ext uri="{0D108BD9-81ED-4DB2-BD59-A6C34878D82A}">
                    <a16:rowId xmlns:a16="http://schemas.microsoft.com/office/drawing/2014/main" val="3097399711"/>
                  </a:ext>
                </a:extLst>
              </a:tr>
              <a:tr h="476833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200" b="0">
                          <a:effectLst/>
                        </a:rPr>
                        <a:t>Frontend</a:t>
                      </a:r>
                      <a:endParaRPr lang="en-US" sz="1200" b="0">
                        <a:effectLst/>
                        <a:latin typeface="quote-cjk-patch"/>
                      </a:endParaRPr>
                    </a:p>
                  </a:txBody>
                  <a:tcPr marL="61310" marR="102184" marT="63865" marB="6386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200" b="0">
                          <a:effectLst/>
                        </a:rPr>
                        <a:t>Angular 17+</a:t>
                      </a:r>
                      <a:endParaRPr lang="en-US" sz="1200" b="0">
                        <a:effectLst/>
                        <a:latin typeface="quote-cjk-patch"/>
                      </a:endParaRPr>
                    </a:p>
                  </a:txBody>
                  <a:tcPr marL="102184" marR="102184" marT="63865" marB="6386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200" b="0">
                          <a:effectLst/>
                        </a:rPr>
                        <a:t>SPA mạnh mẽ, deploy tĩnh trên Nginx</a:t>
                      </a:r>
                      <a:endParaRPr lang="en-US" sz="1200" b="0">
                        <a:effectLst/>
                        <a:latin typeface="quote-cjk-patch"/>
                      </a:endParaRPr>
                    </a:p>
                  </a:txBody>
                  <a:tcPr marL="102184" marR="61310" marT="63865" marB="63865" anchor="ctr"/>
                </a:tc>
                <a:extLst>
                  <a:ext uri="{0D108BD9-81ED-4DB2-BD59-A6C34878D82A}">
                    <a16:rowId xmlns:a16="http://schemas.microsoft.com/office/drawing/2014/main" val="3352358074"/>
                  </a:ext>
                </a:extLst>
              </a:tr>
              <a:tr h="476833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200" b="0">
                          <a:effectLst/>
                        </a:rPr>
                        <a:t>Database</a:t>
                      </a:r>
                      <a:endParaRPr lang="en-US" sz="1200" b="0">
                        <a:effectLst/>
                        <a:latin typeface="quote-cjk-patch"/>
                      </a:endParaRPr>
                    </a:p>
                  </a:txBody>
                  <a:tcPr marL="61310" marR="102184" marT="63865" marB="6386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200" b="0">
                          <a:effectLst/>
                        </a:rPr>
                        <a:t>Bitnami PostgreSQL (trên EKS)</a:t>
                      </a:r>
                      <a:endParaRPr lang="en-US" sz="1200" b="0">
                        <a:effectLst/>
                        <a:latin typeface="quote-cjk-patch"/>
                      </a:endParaRPr>
                    </a:p>
                  </a:txBody>
                  <a:tcPr marL="102184" marR="102184" marT="63865" marB="6386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200" b="0">
                          <a:effectLst/>
                        </a:rPr>
                        <a:t>Triển khai nhanh, nâng cấp lên RDS sau</a:t>
                      </a:r>
                      <a:endParaRPr lang="en-US" sz="1200" b="0">
                        <a:effectLst/>
                        <a:latin typeface="quote-cjk-patch"/>
                      </a:endParaRPr>
                    </a:p>
                  </a:txBody>
                  <a:tcPr marL="102184" marR="61310" marT="63865" marB="63865" anchor="ctr"/>
                </a:tc>
                <a:extLst>
                  <a:ext uri="{0D108BD9-81ED-4DB2-BD59-A6C34878D82A}">
                    <a16:rowId xmlns:a16="http://schemas.microsoft.com/office/drawing/2014/main" val="1053789320"/>
                  </a:ext>
                </a:extLst>
              </a:tr>
              <a:tr h="476833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200" b="0">
                          <a:effectLst/>
                        </a:rPr>
                        <a:t>CI/CD</a:t>
                      </a:r>
                      <a:endParaRPr lang="en-US" sz="1200" b="0">
                        <a:effectLst/>
                        <a:latin typeface="quote-cjk-patch"/>
                      </a:endParaRPr>
                    </a:p>
                  </a:txBody>
                  <a:tcPr marL="61310" marR="102184" marT="63865" marB="6386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200" b="0">
                          <a:effectLst/>
                        </a:rPr>
                        <a:t>GitHub Actions + OIDC</a:t>
                      </a:r>
                      <a:endParaRPr lang="en-US" sz="1200" b="0">
                        <a:effectLst/>
                        <a:latin typeface="quote-cjk-patch"/>
                      </a:endParaRPr>
                    </a:p>
                  </a:txBody>
                  <a:tcPr marL="102184" marR="102184" marT="63865" marB="6386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200" b="0">
                          <a:effectLst/>
                        </a:rPr>
                        <a:t>Tích hợp GitHub, bảo mật</a:t>
                      </a:r>
                      <a:endParaRPr lang="en-US" sz="1200" b="0">
                        <a:effectLst/>
                        <a:latin typeface="quote-cjk-patch"/>
                      </a:endParaRPr>
                    </a:p>
                  </a:txBody>
                  <a:tcPr marL="102184" marR="61310" marT="63865" marB="63865" anchor="ctr"/>
                </a:tc>
                <a:extLst>
                  <a:ext uri="{0D108BD9-81ED-4DB2-BD59-A6C34878D82A}">
                    <a16:rowId xmlns:a16="http://schemas.microsoft.com/office/drawing/2014/main" val="3167811235"/>
                  </a:ext>
                </a:extLst>
              </a:tr>
              <a:tr h="476833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200" b="0">
                          <a:effectLst/>
                        </a:rPr>
                        <a:t>IaC</a:t>
                      </a:r>
                      <a:endParaRPr lang="en-US" sz="1200" b="0">
                        <a:effectLst/>
                        <a:latin typeface="quote-cjk-patch"/>
                      </a:endParaRPr>
                    </a:p>
                  </a:txBody>
                  <a:tcPr marL="61310" marR="102184" marT="63865" marB="6386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200" b="0">
                          <a:effectLst/>
                        </a:rPr>
                        <a:t>Terraform</a:t>
                      </a:r>
                      <a:endParaRPr lang="en-US" sz="1200" b="0">
                        <a:effectLst/>
                        <a:latin typeface="quote-cjk-patch"/>
                      </a:endParaRPr>
                    </a:p>
                  </a:txBody>
                  <a:tcPr marL="102184" marR="102184" marT="63865" marB="6386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200" b="0">
                          <a:effectLst/>
                        </a:rPr>
                        <a:t>Quản lý resource AWS bằng code</a:t>
                      </a:r>
                      <a:endParaRPr lang="en-US" sz="1200" b="0">
                        <a:effectLst/>
                        <a:latin typeface="quote-cjk-patch"/>
                      </a:endParaRPr>
                    </a:p>
                  </a:txBody>
                  <a:tcPr marL="102184" marR="61310" marT="63865" marB="63865" anchor="ctr"/>
                </a:tc>
                <a:extLst>
                  <a:ext uri="{0D108BD9-81ED-4DB2-BD59-A6C34878D82A}">
                    <a16:rowId xmlns:a16="http://schemas.microsoft.com/office/drawing/2014/main" val="2077319220"/>
                  </a:ext>
                </a:extLst>
              </a:tr>
              <a:tr h="476833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200" b="0">
                          <a:effectLst/>
                        </a:rPr>
                        <a:t>Container Registry</a:t>
                      </a:r>
                      <a:endParaRPr lang="en-US" sz="1200" b="0">
                        <a:effectLst/>
                        <a:latin typeface="quote-cjk-patch"/>
                      </a:endParaRPr>
                    </a:p>
                  </a:txBody>
                  <a:tcPr marL="61310" marR="102184" marT="63865" marB="6386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200" b="0">
                          <a:effectLst/>
                        </a:rPr>
                        <a:t>Amazon ECR</a:t>
                      </a:r>
                      <a:endParaRPr lang="en-US" sz="1200" b="0">
                        <a:effectLst/>
                        <a:latin typeface="quote-cjk-patch"/>
                      </a:endParaRPr>
                    </a:p>
                  </a:txBody>
                  <a:tcPr marL="102184" marR="102184" marT="63865" marB="6386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200" b="0">
                          <a:effectLst/>
                        </a:rPr>
                        <a:t>Tích hợp chặt với EKS/IAM</a:t>
                      </a:r>
                      <a:endParaRPr lang="en-US" sz="1200" b="0">
                        <a:effectLst/>
                        <a:latin typeface="quote-cjk-patch"/>
                      </a:endParaRPr>
                    </a:p>
                  </a:txBody>
                  <a:tcPr marL="102184" marR="61310" marT="63865" marB="63865" anchor="ctr"/>
                </a:tc>
                <a:extLst>
                  <a:ext uri="{0D108BD9-81ED-4DB2-BD59-A6C34878D82A}">
                    <a16:rowId xmlns:a16="http://schemas.microsoft.com/office/drawing/2014/main" val="882108943"/>
                  </a:ext>
                </a:extLst>
              </a:tr>
              <a:tr h="476833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200" b="0">
                          <a:effectLst/>
                        </a:rPr>
                        <a:t>Ingress Controller</a:t>
                      </a:r>
                      <a:endParaRPr lang="en-US" sz="1200" b="0">
                        <a:effectLst/>
                        <a:latin typeface="quote-cjk-patch"/>
                      </a:endParaRPr>
                    </a:p>
                  </a:txBody>
                  <a:tcPr marL="61310" marR="102184" marT="63865" marB="6386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200" b="0">
                          <a:effectLst/>
                        </a:rPr>
                        <a:t>AWS LB Controller (ALB)</a:t>
                      </a:r>
                      <a:endParaRPr lang="en-US" sz="1200" b="0">
                        <a:effectLst/>
                        <a:latin typeface="quote-cjk-patch"/>
                      </a:endParaRPr>
                    </a:p>
                  </a:txBody>
                  <a:tcPr marL="102184" marR="102184" marT="63865" marB="6386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200" b="0" dirty="0" err="1">
                          <a:effectLst/>
                        </a:rPr>
                        <a:t>Tự</a:t>
                      </a:r>
                      <a:r>
                        <a:rPr lang="en-US" sz="1200" b="0" dirty="0">
                          <a:effectLst/>
                        </a:rPr>
                        <a:t> </a:t>
                      </a:r>
                      <a:r>
                        <a:rPr lang="en-US" sz="1200" b="0" dirty="0" err="1">
                          <a:effectLst/>
                        </a:rPr>
                        <a:t>động</a:t>
                      </a:r>
                      <a:r>
                        <a:rPr lang="en-US" sz="1200" b="0" dirty="0">
                          <a:effectLst/>
                        </a:rPr>
                        <a:t> ALB, </a:t>
                      </a:r>
                      <a:r>
                        <a:rPr lang="en-US" sz="1200" b="0" dirty="0" err="1">
                          <a:effectLst/>
                        </a:rPr>
                        <a:t>hỗ</a:t>
                      </a:r>
                      <a:r>
                        <a:rPr lang="en-US" sz="1200" b="0" dirty="0">
                          <a:effectLst/>
                        </a:rPr>
                        <a:t> </a:t>
                      </a:r>
                      <a:r>
                        <a:rPr lang="en-US" sz="1200" b="0" dirty="0" err="1">
                          <a:effectLst/>
                        </a:rPr>
                        <a:t>trợ</a:t>
                      </a:r>
                      <a:r>
                        <a:rPr lang="en-US" sz="1200" b="0" dirty="0">
                          <a:effectLst/>
                        </a:rPr>
                        <a:t> HTTPS/ACM</a:t>
                      </a:r>
                      <a:endParaRPr lang="en-US" sz="1200" b="0" dirty="0">
                        <a:effectLst/>
                        <a:latin typeface="quote-cjk-patch"/>
                      </a:endParaRPr>
                    </a:p>
                  </a:txBody>
                  <a:tcPr marL="102184" marR="61310" marT="63865" marB="63865" anchor="ctr"/>
                </a:tc>
                <a:extLst>
                  <a:ext uri="{0D108BD9-81ED-4DB2-BD59-A6C34878D82A}">
                    <a16:rowId xmlns:a16="http://schemas.microsoft.com/office/drawing/2014/main" val="651076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8341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38B8A-393B-A08F-3C81-58B46FDEA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/>
              <a:t>KIẾN TRÚC HẠ TẦNG </a:t>
            </a:r>
            <a:br>
              <a:rPr lang="en-US" b="1" dirty="0"/>
            </a:br>
            <a:r>
              <a:rPr lang="en-US" b="1" dirty="0"/>
              <a:t>(INFRASTRUCTURE DIAGRAM)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F14280E-47E8-7AA2-86A0-2FF1D985B7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302033" y="1846263"/>
            <a:ext cx="5648259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606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0BE66-6610-D13E-9660-7017B24C0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/>
              <a:t>KIẾN TRÚC ỨNG DỤNG </a:t>
            </a:r>
            <a:br>
              <a:rPr lang="en-US" b="1" dirty="0"/>
            </a:br>
            <a:r>
              <a:rPr lang="en-US" b="1" dirty="0"/>
              <a:t>(APPLICATION DIAGRAM)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1FAAA92-AC5B-DB20-819B-6E805A14C7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795127" y="1985761"/>
            <a:ext cx="6601746" cy="288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469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6195B-FDB0-E5F3-2E8A-8EA814737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it-IT" b="1" dirty="0"/>
              <a:t>QUY TRÌNH CI/CD </a:t>
            </a:r>
            <a:br>
              <a:rPr lang="it-IT" b="1" dirty="0"/>
            </a:br>
            <a:r>
              <a:rPr lang="it-IT" b="1" dirty="0"/>
              <a:t>(PIPELINE DIAGRAM)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14DDDDC-3927-4F58-5B2A-37B0489EC8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199533" y="1846263"/>
            <a:ext cx="5853260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186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BF7E9-D71A-5CC4-144E-9E686D77D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/>
              <a:t>XÂY DỰNG HẠ TẦNG VỚI TERRAFORM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B3534-2A1C-9EA3-967D-6D611DA42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r>
              <a:rPr lang="vi-VN" b="1" dirty="0"/>
              <a:t>Cấu trúc thư mục:</a:t>
            </a:r>
            <a:r>
              <a:rPr lang="vi-VN" dirty="0"/>
              <a:t> infrastructure/terraform/eks/</a:t>
            </a:r>
          </a:p>
          <a:p>
            <a:r>
              <a:rPr lang="vi-VN" b="1" dirty="0"/>
              <a:t>Các file chính:</a:t>
            </a:r>
          </a:p>
          <a:p>
            <a:pPr lvl="1"/>
            <a:r>
              <a:rPr lang="vi-VN" dirty="0"/>
              <a:t>c1_versions.tf – provider AWS, backend S3</a:t>
            </a:r>
          </a:p>
          <a:p>
            <a:pPr lvl="1"/>
            <a:r>
              <a:rPr lang="vi-VN" dirty="0"/>
              <a:t>c2_variables.tf – region, cluster name, tags</a:t>
            </a:r>
          </a:p>
          <a:p>
            <a:pPr lvl="1"/>
            <a:r>
              <a:rPr lang="vi-VN" dirty="0"/>
              <a:t>c3_remote-state.tf – tham chiếu VPC có sẵn</a:t>
            </a:r>
          </a:p>
          <a:p>
            <a:pPr lvl="1"/>
            <a:r>
              <a:rPr lang="vi-VN" dirty="0"/>
              <a:t>c6_* – IAM roles cho control plane và worker nodes</a:t>
            </a:r>
          </a:p>
          <a:p>
            <a:pPr lvl="1"/>
            <a:r>
              <a:rPr lang="vi-VN" dirty="0"/>
              <a:t>c7_eks_cluster.tf – tạo EKS cluster</a:t>
            </a:r>
          </a:p>
          <a:p>
            <a:pPr lvl="1"/>
            <a:r>
              <a:rPr lang="vi-VN" dirty="0"/>
              <a:t>c9_eks_nodegroup_private.tf – node group t3.small</a:t>
            </a:r>
          </a:p>
        </p:txBody>
      </p:sp>
    </p:spTree>
    <p:extLst>
      <p:ext uri="{BB962C8B-B14F-4D97-AF65-F5344CB8AC3E}">
        <p14:creationId xmlns:p14="http://schemas.microsoft.com/office/powerpoint/2010/main" val="1548799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5447F-3FC5-6790-9220-CE32C5D1A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/>
              <a:t>XÂY DỰNG HẠ TẦNG VỚI TERRAFORM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DD9BBC3-D9E3-CEA4-40CB-777A5D854F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4030" y="1846263"/>
            <a:ext cx="9664266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126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817C6-9F7F-F4E0-3C67-905BAADE5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/>
              <a:t>XÂY DỰNG HẠ TẦNG VỚI TERRAFORM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B200A2-3796-8060-B1CD-485B4683FB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69435" y="1846263"/>
            <a:ext cx="6713456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602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AEA05-7965-5FD1-55A2-EF88F9550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CÀI ĐẶT AWS LOAD BALANCER CONTROLLER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04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AB7E8-D29E-399D-EDA4-E30297B1D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/>
              <a:t>TẠO IAM POLICY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57E19F-B9C7-BEC3-BC43-F6B9168E6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406" y="1737360"/>
            <a:ext cx="9414148" cy="4606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03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2AE96-3742-D334-1ED2-2C51B2701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POD IDENTITY ASSOCIATION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51F30D-A60A-7E3C-F315-82C033491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13" y="3272530"/>
            <a:ext cx="11460174" cy="14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6749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E072-FCC9-486E-CAE6-04AB06C47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Helm install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DA08F5-872E-579A-9578-5CE5889B4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413" y="2699700"/>
            <a:ext cx="11279174" cy="186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082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57E55-8B3C-4E21-7A60-56CE10179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/>
              <a:t>TRIỂN KHAI ỨNG DỤNG VỚI HELM UMBRELLA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B9E7E6-7319-FDA2-774D-3824717E5E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93944" y="1846263"/>
            <a:ext cx="3464438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9650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A247A-B6EE-D40F-C254-89CCDF7CF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b="1" dirty="0"/>
              <a:t>CI/CD VỚI GITHUB ACTIONS + OIDC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2A6EA-B12F-165A-A6B3-D5DBB3F10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/>
              <a:t>IAM Role</a:t>
            </a:r>
            <a:r>
              <a:rPr lang="en-US" dirty="0"/>
              <a:t> </a:t>
            </a:r>
            <a:r>
              <a:rPr lang="en-US" dirty="0" err="1"/>
              <a:t>GitHubActionsEKSRole</a:t>
            </a:r>
            <a:r>
              <a:rPr lang="en-US" dirty="0"/>
              <a:t> –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script setup-gh-oidc.sh</a:t>
            </a:r>
          </a:p>
          <a:p>
            <a:pPr algn="just"/>
            <a:r>
              <a:rPr lang="en-US" dirty="0"/>
              <a:t>Trust policy </a:t>
            </a:r>
            <a:r>
              <a:rPr lang="en-US" dirty="0" err="1"/>
              <a:t>cho</a:t>
            </a:r>
            <a:r>
              <a:rPr lang="en-US" dirty="0"/>
              <a:t> repository qly6/</a:t>
            </a:r>
            <a:r>
              <a:rPr lang="en-US" dirty="0" err="1"/>
              <a:t>AuthApp</a:t>
            </a:r>
            <a:endParaRPr lang="en-US" dirty="0"/>
          </a:p>
          <a:p>
            <a:pPr algn="just"/>
            <a:r>
              <a:rPr lang="en-US" b="1" dirty="0"/>
              <a:t>GitHub Secrets </a:t>
            </a:r>
            <a:r>
              <a:rPr lang="en-US" b="1" dirty="0" err="1"/>
              <a:t>cần</a:t>
            </a:r>
            <a:r>
              <a:rPr lang="en-US" b="1" dirty="0"/>
              <a:t> </a:t>
            </a:r>
            <a:r>
              <a:rPr lang="en-US" b="1" dirty="0" err="1"/>
              <a:t>có</a:t>
            </a:r>
            <a:r>
              <a:rPr lang="en-US" b="1" dirty="0"/>
              <a:t>:</a:t>
            </a:r>
            <a:r>
              <a:rPr lang="en-US" dirty="0"/>
              <a:t> DB_PASSWORD, JWT_SECRET</a:t>
            </a:r>
          </a:p>
          <a:p>
            <a:pPr algn="just"/>
            <a:r>
              <a:rPr lang="en-US" dirty="0"/>
              <a:t>Workflow .</a:t>
            </a:r>
            <a:r>
              <a:rPr lang="en-US" dirty="0" err="1"/>
              <a:t>github</a:t>
            </a:r>
            <a:r>
              <a:rPr lang="en-US" dirty="0"/>
              <a:t>/workflows/</a:t>
            </a:r>
            <a:r>
              <a:rPr lang="en-US" dirty="0" err="1"/>
              <a:t>deploy.yml</a:t>
            </a:r>
            <a:r>
              <a:rPr lang="en-US" dirty="0"/>
              <a:t> </a:t>
            </a:r>
            <a:r>
              <a:rPr lang="en-US" dirty="0" err="1"/>
              <a:t>gồm</a:t>
            </a:r>
            <a:r>
              <a:rPr lang="en-US" dirty="0"/>
              <a:t> 2 jobs:</a:t>
            </a:r>
          </a:p>
          <a:p>
            <a:pPr lvl="1" algn="just"/>
            <a:r>
              <a:rPr lang="en-US" dirty="0"/>
              <a:t>build-and-push – build Docker, push </a:t>
            </a:r>
            <a:r>
              <a:rPr lang="en-US" dirty="0" err="1"/>
              <a:t>lên</a:t>
            </a:r>
            <a:r>
              <a:rPr lang="en-US" dirty="0"/>
              <a:t> ECR</a:t>
            </a:r>
          </a:p>
          <a:p>
            <a:pPr lvl="1" algn="just"/>
            <a:r>
              <a:rPr lang="en-US" dirty="0"/>
              <a:t>deploy – helm upgrade </a:t>
            </a:r>
            <a:r>
              <a:rPr lang="en-US" dirty="0" err="1"/>
              <a:t>với</a:t>
            </a:r>
            <a:r>
              <a:rPr lang="en-US" dirty="0"/>
              <a:t> image tag </a:t>
            </a:r>
            <a:r>
              <a:rPr lang="en-US" dirty="0" err="1"/>
              <a:t>mới</a:t>
            </a:r>
            <a:endParaRPr lang="en-US" dirty="0"/>
          </a:p>
          <a:p>
            <a:pPr lvl="1"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441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E18E6-7CF1-700C-BF69-BFFD6670F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b="1" dirty="0"/>
              <a:t>CI/CD VỚI GITHUB ACTIONS + OIDC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3F17D8-7FA6-14F9-0CD4-FE2FEEDBE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946" y="1893807"/>
            <a:ext cx="7940107" cy="4375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8241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6CB87-B31E-A968-6044-6BDFA1D96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/>
              <a:t>NỘI DUNG WORKFLOW PHẦN BUILD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472E8A-4E41-C0E7-95BE-E65762959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3736" y="1848634"/>
            <a:ext cx="7604528" cy="4495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7329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45987-88B1-2593-9224-B2025186E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54ACA-D92E-98D6-F9F5-076A9A363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/>
              <a:t>NỘI DUNG WORKFLOW PHẦN DELOY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AE262E-EE4E-396F-20B1-AE97DD27B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652" y="1850435"/>
            <a:ext cx="8764696" cy="483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4296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5FFB4-D5B1-77C2-9167-4A2F27585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OUTPUT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7141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17E009-AD1D-6E8E-AB15-20F2E8FEC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625"/>
            <a:ext cx="12192000" cy="600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7952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565722-4A1D-9682-8B43-7DDC5A305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625"/>
            <a:ext cx="12192000" cy="600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89427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226</TotalTime>
  <Words>597</Words>
  <Application>Microsoft Office PowerPoint</Application>
  <PresentationFormat>Widescreen</PresentationFormat>
  <Paragraphs>85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Calibri</vt:lpstr>
      <vt:lpstr>Calibri Light</vt:lpstr>
      <vt:lpstr>quote-cjk-patch</vt:lpstr>
      <vt:lpstr>Retrospect</vt:lpstr>
      <vt:lpstr>HỆ THỐNG XÁC THỰC (SIMPLEAUTH)  TRÊN AWS EKS</vt:lpstr>
      <vt:lpstr>MỤC TIÊU &amp; TỔNG QUAN</vt:lpstr>
      <vt:lpstr>Technology Stack </vt:lpstr>
      <vt:lpstr>KIẾN TRÚC HẠ TẦNG  (INFRASTRUCTURE DIAGRAM)</vt:lpstr>
      <vt:lpstr>KIẾN TRÚC ỨNG DỤNG  (APPLICATION DIAGRAM)</vt:lpstr>
      <vt:lpstr>QUY TRÌNH CI/CD  (PIPELINE DIAGRAM)</vt:lpstr>
      <vt:lpstr>XÂY DỰNG HẠ TẦNG VỚI TERRAFORM</vt:lpstr>
      <vt:lpstr>XÂY DỰNG HẠ TẦNG VỚI TERRAFORM</vt:lpstr>
      <vt:lpstr>XÂY DỰNG HẠ TẦNG VỚI TERRAFORM</vt:lpstr>
      <vt:lpstr>CÀI ĐẶT AWS LOAD BALANCER CONTROLLER</vt:lpstr>
      <vt:lpstr>TẠO IAM POLICY</vt:lpstr>
      <vt:lpstr>POD IDENTITY ASSOCIATION</vt:lpstr>
      <vt:lpstr>Helm install</vt:lpstr>
      <vt:lpstr>TRIỂN KHAI ỨNG DỤNG VỚI HELM UMBRELLA</vt:lpstr>
      <vt:lpstr>CI/CD VỚI GITHUB ACTIONS + OIDC</vt:lpstr>
      <vt:lpstr>CI/CD VỚI GITHUB ACTIONS + OIDC</vt:lpstr>
      <vt:lpstr>NỘI DUNG WORKFLOW PHẦN BUILD</vt:lpstr>
      <vt:lpstr>NỘI DUNG WORKFLOW PHẦN DELOY</vt:lpstr>
      <vt:lpstr>OUTPUT 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Quyền Lý</dc:creator>
  <cp:lastModifiedBy>Ly, Quyen</cp:lastModifiedBy>
  <cp:revision>55</cp:revision>
  <dcterms:created xsi:type="dcterms:W3CDTF">2026-05-05T12:51:03Z</dcterms:created>
  <dcterms:modified xsi:type="dcterms:W3CDTF">2026-05-06T08:05:04Z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394ae5-69af-439d-af88-cb521c31c0c5_Enabled">
    <vt:lpwstr>true</vt:lpwstr>
  </property>
  <property fmtid="{D5CDD505-2E9C-101B-9397-08002B2CF9AE}" pid="3" name="MSIP_Label_15394ae5-69af-439d-af88-cb521c31c0c5_SetDate">
    <vt:lpwstr>2026-05-06T07:52:16Z</vt:lpwstr>
  </property>
  <property fmtid="{D5CDD505-2E9C-101B-9397-08002B2CF9AE}" pid="4" name="MSIP_Label_15394ae5-69af-439d-af88-cb521c31c0c5_Method">
    <vt:lpwstr>Standard</vt:lpwstr>
  </property>
  <property fmtid="{D5CDD505-2E9C-101B-9397-08002B2CF9AE}" pid="5" name="MSIP_Label_15394ae5-69af-439d-af88-cb521c31c0c5_Name">
    <vt:lpwstr>DXC Internal</vt:lpwstr>
  </property>
  <property fmtid="{D5CDD505-2E9C-101B-9397-08002B2CF9AE}" pid="6" name="MSIP_Label_15394ae5-69af-439d-af88-cb521c31c0c5_SiteId">
    <vt:lpwstr>93f33571-550f-43cf-b09f-cd331338d086</vt:lpwstr>
  </property>
  <property fmtid="{D5CDD505-2E9C-101B-9397-08002B2CF9AE}" pid="7" name="MSIP_Label_15394ae5-69af-439d-af88-cb521c31c0c5_ActionId">
    <vt:lpwstr>76562b3c-9dfb-425c-ae6d-9d3f2c0e0545</vt:lpwstr>
  </property>
  <property fmtid="{D5CDD505-2E9C-101B-9397-08002B2CF9AE}" pid="8" name="MSIP_Label_15394ae5-69af-439d-af88-cb521c31c0c5_ContentBits">
    <vt:lpwstr>0</vt:lpwstr>
  </property>
  <property fmtid="{D5CDD505-2E9C-101B-9397-08002B2CF9AE}" pid="9" name="MSIP_Label_15394ae5-69af-439d-af88-cb521c31c0c5_Tag">
    <vt:lpwstr>10, 3, 0, 1</vt:lpwstr>
  </property>
</Properties>
</file>
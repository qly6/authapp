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83" autoAdjust="0"/>
  </p:normalViewPr>
  <p:slideViewPr>
    <p:cSldViewPr snapToGrid="0">
      <p:cViewPr varScale="1">
        <p:scale>
          <a:sx n="98" d="100"/>
          <a:sy n="98" d="100"/>
        </p:scale>
        <p:origin x="10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E1486F-8D4D-432D-A18E-32C7F6081F21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214CA-9F50-4E80-87D0-EA918655B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58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sp.net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VPC với public/private subnets (AZ ap-southeast-1a, 1b)</a:t>
            </a:r>
          </a:p>
          <a:p>
            <a:r>
              <a:rPr lang="vi-V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 Cluster (control plane private endpoint)</a:t>
            </a:r>
          </a:p>
          <a:p>
            <a:r>
              <a:rPr lang="vi-V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Managed Node Group (t3.small x 2) trong private subnet</a:t>
            </a:r>
          </a:p>
          <a:p>
            <a:r>
              <a:rPr lang="vi-V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ALB (Internet-facing) đứng trước, route đến service trong EKS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214CA-9F50-4E80-87D0-EA918655BF0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862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 UI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(Angular) – container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Nginx,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gọi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qua internal service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 API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ASP.NET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Core) –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xử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lý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logic, JWT, Entity Framework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–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Bitnami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Helm chart, persistent volume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thành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phần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tiếp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 Service Kubernetes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ClusterIP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214CA-9F50-4E80-87D0-EA918655BF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162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Developer push code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GitHub (branch main)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 Actions trigger workflow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deploy.yml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Docker image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Backend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Frontend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 image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Amazon ECR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Cập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Helm values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mới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Chạy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helm upgrade --install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EKS cluster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ALB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tự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cập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nhật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214CA-9F50-4E80-87D0-EA918655BF0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13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1B3DD-8C72-B5B0-2839-A2E64251B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547685-BE96-FD74-C5CF-692D9AEF27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94C8-F21C-A663-BCE4-2FAE17FF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2C57E-7DDA-2B35-F19D-A8370908B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7CD93-19FB-C794-7622-DD91B38DE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7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75016-7E7C-29CC-C289-727DCCD30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42B0E-2729-7BBD-782B-0C2F9833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D26FE-7249-9E4F-D943-C381FB89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AEA1C-A31E-0DE9-724A-9735D8681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E2FE4-E71B-E201-43AB-EEA68CA4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610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4B314-DB0E-C4BD-B26E-D25B055E5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4432D-59CC-0AF2-FCC7-04651EDFB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119BC-08F8-3AFC-C629-FAA7B2C72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132D3-A69E-0C8F-246F-2532A83CE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34704-FFA6-F08E-BE6F-8A4BBC1FF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9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51C6-B0F6-96E9-CB8D-BCAC67F9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83DB8-80D8-BEF3-E0A2-CE296DA3A2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10137C-C5E1-0877-9649-C8C077D5A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A5333-EEF1-6F6F-434D-E0962C1DA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20E9-E2EA-DE46-0BFC-FD01507C1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9589A-70C4-FCE9-0678-43D4E8F4D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9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E9486-EDBB-40E4-7313-06AE6B973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AEE4E-8536-FEDA-A427-541D133BB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EB85C-3D77-8B8B-D586-2CB98F1524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9C7183-416A-1C0C-9306-5B19C66FA4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908A1-D4CE-D233-2A66-6B724CD3F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608D52-E7FB-1CA7-483F-6E2EA8FC8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3352F9-94C2-C03F-BE43-17099F7C9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679BB7-C141-83D5-566E-05488A06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01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7C8FC-4A8B-EE0D-07F9-329485064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662AE5-0832-428E-E66D-31C37069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C4F014-A2F0-6969-B70F-BCC786FE0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2D89A-9B75-5B9A-5FBD-7BD58F2D8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201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5A3EC5-0BAB-E209-91EE-B68B4B977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5F2286-7564-5B56-F531-AA0E563DF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C3365-28DF-7DBE-B4FA-A7DA1D8CE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695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F5B4B-9985-F088-B404-AC0C656BC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92F0-B17C-A381-8607-EEE48E6B8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74D01-CBC6-9411-A1F0-F70AB5CD0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79762C-E420-4889-6C3D-321AD5D8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F78A7-24AE-147F-75EF-DBF26B65E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44554-F34A-9A95-0CA0-E83D3D4B7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37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1FB7-CC39-075B-0338-17B89301F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262115-21DB-BF8A-7605-971E89286D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0B895-645F-2E09-DDC9-BDFCFCA2B9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396D3-A327-77C0-8ECE-64EE72B7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4EF507-1776-4C5B-5173-A91F473C7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7AC1A-B57C-B611-4286-DFBACAC6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02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67324-ADBC-DD7D-2EE0-6EBD0CD8E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1AA340-F815-75D1-37FB-5C022D1968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4BD67-C8EE-D027-D196-95366825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AC3F1-2961-7E22-A967-6B2449F48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9E634-D678-4170-788A-B876D688A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68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49A6E4-93FB-424F-3679-9DDAEB0960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A731E5-5915-5240-1D6C-A62FACE81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E0A1C-A3DF-3CE2-FB44-ADD58EBA7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F5E59-A07A-BFF9-3E3C-18B4BF140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B3EEB-430D-A6EF-9111-4BDDC80C2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54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269746-3FA7-8958-C96E-E4E2CCD3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C51A3-E7DC-596E-F252-3400DDE19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0D94E-E8E8-A2D4-453D-ECE11F2090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AEB2B-6EA4-416D-8246-18E81132A99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89F23-C857-E397-EE16-7199CE44B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434AE-1506-29F0-ADDA-4F994944BF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4300C5-83B2-4AA9-AE9E-64EAF06C99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170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7DD98-FAC5-2F67-F739-041EF46E1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sz="7200" b="1" dirty="0"/>
              <a:t>HỆ THỐNG XÁC THỰC (SIMPLEAUTH) </a:t>
            </a:r>
            <a:br>
              <a:rPr lang="en-US" sz="7200" b="1" dirty="0"/>
            </a:br>
            <a:r>
              <a:rPr lang="en-US" sz="7200" b="1" dirty="0"/>
              <a:t>TRÊN AWS EKS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700822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8E7EA-B834-0319-DB74-4CF3199D4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MỤC TIÊU &amp; TỔNG QUAN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4A42D-C913-69AC-18A8-CE12B11A2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8360"/>
            <a:ext cx="10515600" cy="3121279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vi-VN" dirty="0"/>
              <a:t>Xây dựng hệ thống xác thực (đăng ký, đăng nhập, JWT) trên nền tảng AWS.</a:t>
            </a:r>
          </a:p>
          <a:p>
            <a:pPr marL="514350" indent="-514350">
              <a:buFont typeface="+mj-lt"/>
              <a:buAutoNum type="arabicPeriod"/>
            </a:pPr>
            <a:r>
              <a:rPr lang="vi-VN" dirty="0"/>
              <a:t>Ứng dụng containerized, triển khai trên Kubernetes (EKS).</a:t>
            </a:r>
          </a:p>
          <a:p>
            <a:pPr marL="514350" indent="-514350">
              <a:buFont typeface="+mj-lt"/>
              <a:buAutoNum type="arabicPeriod"/>
            </a:pPr>
            <a:r>
              <a:rPr lang="vi-VN" dirty="0"/>
              <a:t>Tự động hóa toàn bộ hạ tầng (IaC) và CI/CD.</a:t>
            </a:r>
          </a:p>
          <a:p>
            <a:pPr marL="514350" indent="-514350">
              <a:buFont typeface="+mj-lt"/>
              <a:buAutoNum type="arabicPeriod"/>
            </a:pPr>
            <a:r>
              <a:rPr lang="vi-VN" dirty="0"/>
              <a:t>Đảm bảo bảo mật, khả năng mở rộng và chi phí tối ưu cho môi trường dev.</a:t>
            </a:r>
          </a:p>
        </p:txBody>
      </p:sp>
    </p:spTree>
    <p:extLst>
      <p:ext uri="{BB962C8B-B14F-4D97-AF65-F5344CB8AC3E}">
        <p14:creationId xmlns:p14="http://schemas.microsoft.com/office/powerpoint/2010/main" val="643046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52988-9EC7-8E4C-380B-A39411D6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Technology Stack 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170A2D-BBAD-4C67-8239-FAA8976439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376573"/>
              </p:ext>
            </p:extLst>
          </p:nvPr>
        </p:nvGraphicFramePr>
        <p:xfrm>
          <a:off x="707136" y="1698880"/>
          <a:ext cx="10777728" cy="4640461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592576">
                  <a:extLst>
                    <a:ext uri="{9D8B030D-6E8A-4147-A177-3AD203B41FA5}">
                      <a16:colId xmlns:a16="http://schemas.microsoft.com/office/drawing/2014/main" val="1347817713"/>
                    </a:ext>
                  </a:extLst>
                </a:gridCol>
                <a:gridCol w="3592576">
                  <a:extLst>
                    <a:ext uri="{9D8B030D-6E8A-4147-A177-3AD203B41FA5}">
                      <a16:colId xmlns:a16="http://schemas.microsoft.com/office/drawing/2014/main" val="1674280132"/>
                    </a:ext>
                  </a:extLst>
                </a:gridCol>
                <a:gridCol w="3592576">
                  <a:extLst>
                    <a:ext uri="{9D8B030D-6E8A-4147-A177-3AD203B41FA5}">
                      <a16:colId xmlns:a16="http://schemas.microsoft.com/office/drawing/2014/main" val="3945944449"/>
                    </a:ext>
                  </a:extLst>
                </a:gridCol>
              </a:tblGrid>
              <a:tr h="28190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effectLst/>
                        </a:rPr>
                        <a:t>THÀNH PHẦN</a:t>
                      </a:r>
                      <a:endParaRPr lang="en-US" sz="1200" b="1" dirty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effectLst/>
                        </a:rPr>
                        <a:t>CÔNG NGHỆ</a:t>
                      </a:r>
                      <a:endParaRPr lang="en-US" sz="1200" b="1" dirty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effectLst/>
                        </a:rPr>
                        <a:t>LÝ DO</a:t>
                      </a:r>
                      <a:endParaRPr lang="en-US" sz="1200" b="1" dirty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extLst>
                  <a:ext uri="{0D108BD9-81ED-4DB2-BD59-A6C34878D82A}">
                    <a16:rowId xmlns:a16="http://schemas.microsoft.com/office/drawing/2014/main" val="35859735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 dirty="0">
                          <a:effectLst/>
                        </a:rPr>
                        <a:t>Cloud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AWS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Thị phần lớn, tích hợp IaC/CI/CD tốt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1799673917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Hạ tầng K8s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Amazon EKS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Quản lý container tự động, dễ mở rộng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3849922547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Backend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 u="none" strike="noStrike">
                          <a:solidFill>
                            <a:srgbClr val="679EFE"/>
                          </a:solidFill>
                          <a:effectLst/>
                          <a:hlinkClick r:id="rId2"/>
                        </a:rPr>
                        <a:t>ASP.NET</a:t>
                      </a:r>
                      <a:r>
                        <a:rPr lang="en-US" sz="1200" b="0">
                          <a:effectLst/>
                        </a:rPr>
                        <a:t> Core Web API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Hiệu năng cao, cross-platform, dễ Docker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3097399711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Frontend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Angular 17+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SPA mạnh mẽ, deploy tĩnh trên Nginx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3352358074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Database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Bitnami PostgreSQL (trên EKS)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Triển khai nhanh, nâng cấp lên RDS sau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1053789320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CI/CD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GitHub Actions + OIDC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Tích hợp GitHub, bảo mật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3167811235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IaC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Terraform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Quản lý resource AWS bằng code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2077319220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Container Registry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Amazon ECR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Tích hợp chặt với EKS/IAM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882108943"/>
                  </a:ext>
                </a:extLst>
              </a:tr>
              <a:tr h="47683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Ingress Controller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61310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AWS LB Controller (ALB)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02184" marR="102184" marT="63865" marB="6386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0" dirty="0" err="1">
                          <a:effectLst/>
                        </a:rPr>
                        <a:t>Tự</a:t>
                      </a:r>
                      <a:r>
                        <a:rPr lang="en-US" sz="1200" b="0" dirty="0">
                          <a:effectLst/>
                        </a:rPr>
                        <a:t> </a:t>
                      </a:r>
                      <a:r>
                        <a:rPr lang="en-US" sz="1200" b="0" dirty="0" err="1">
                          <a:effectLst/>
                        </a:rPr>
                        <a:t>động</a:t>
                      </a:r>
                      <a:r>
                        <a:rPr lang="en-US" sz="1200" b="0" dirty="0">
                          <a:effectLst/>
                        </a:rPr>
                        <a:t> ALB, </a:t>
                      </a:r>
                      <a:r>
                        <a:rPr lang="en-US" sz="1200" b="0" dirty="0" err="1">
                          <a:effectLst/>
                        </a:rPr>
                        <a:t>hỗ</a:t>
                      </a:r>
                      <a:r>
                        <a:rPr lang="en-US" sz="1200" b="0" dirty="0">
                          <a:effectLst/>
                        </a:rPr>
                        <a:t> </a:t>
                      </a:r>
                      <a:r>
                        <a:rPr lang="en-US" sz="1200" b="0" dirty="0" err="1">
                          <a:effectLst/>
                        </a:rPr>
                        <a:t>trợ</a:t>
                      </a:r>
                      <a:r>
                        <a:rPr lang="en-US" sz="1200" b="0" dirty="0">
                          <a:effectLst/>
                        </a:rPr>
                        <a:t> HTTPS/ACM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L="102184" marR="61310" marT="63865" marB="63865" anchor="ctr"/>
                </a:tc>
                <a:extLst>
                  <a:ext uri="{0D108BD9-81ED-4DB2-BD59-A6C34878D82A}">
                    <a16:rowId xmlns:a16="http://schemas.microsoft.com/office/drawing/2014/main" val="65107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341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8B8A-393B-A08F-3C81-58B46FDE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KIẾN TRÚC HẠ TẦNG </a:t>
            </a:r>
            <a:br>
              <a:rPr lang="en-US" b="1" dirty="0"/>
            </a:br>
            <a:r>
              <a:rPr lang="en-US" b="1" dirty="0"/>
              <a:t>(INFRASTRUCTURE DIAGRAM)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14280E-47E8-7AA2-86A0-2FF1D985B7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97152" y="1615313"/>
            <a:ext cx="8997696" cy="487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06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0BE66-6610-D13E-9660-7017B24C0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KIẾN TRÚC ỨNG DỤNG </a:t>
            </a:r>
            <a:br>
              <a:rPr lang="en-US" b="1" dirty="0"/>
            </a:br>
            <a:r>
              <a:rPr lang="en-US" b="1" dirty="0"/>
              <a:t>(APPLICATION DIAGRAM)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1FAAA92-AC5B-DB20-819B-6E805A14C7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95127" y="1985761"/>
            <a:ext cx="6601746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469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6195B-FDB0-E5F3-2E8A-8EA81473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QUY TRÌNH CI/CD </a:t>
            </a:r>
            <a:br>
              <a:rPr lang="it-IT" b="1" dirty="0"/>
            </a:br>
            <a:r>
              <a:rPr lang="it-IT" b="1" dirty="0"/>
              <a:t>(PIPELINE DIAGRAM)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14DDDDC-3927-4F58-5B2A-37B0489EC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30296" y="1825625"/>
            <a:ext cx="63314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186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F7E9-D71A-5CC4-144E-9E686D77D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XÂY DỰNG HẠ TẦNG VỚI TERRAFORM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B3534-2A1C-9EA3-967D-6D611DA42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vi-VN" b="1" dirty="0"/>
              <a:t>Cấu trúc thư mục:</a:t>
            </a:r>
            <a:r>
              <a:rPr lang="vi-VN" dirty="0"/>
              <a:t> infrastructure/terraform/eks/</a:t>
            </a:r>
          </a:p>
          <a:p>
            <a:r>
              <a:rPr lang="vi-VN" b="1" dirty="0"/>
              <a:t>Các file chính:</a:t>
            </a:r>
          </a:p>
          <a:p>
            <a:pPr lvl="1"/>
            <a:r>
              <a:rPr lang="vi-VN" dirty="0"/>
              <a:t>c1_versions.tf – provider AWS, backend S3</a:t>
            </a:r>
          </a:p>
          <a:p>
            <a:pPr lvl="1"/>
            <a:r>
              <a:rPr lang="vi-VN" dirty="0"/>
              <a:t>c2_variables.tf – region, cluster name, tags</a:t>
            </a:r>
          </a:p>
          <a:p>
            <a:pPr lvl="1"/>
            <a:r>
              <a:rPr lang="vi-VN" dirty="0"/>
              <a:t>c3_remote-state.tf – tham chiếu VPC có sẵn</a:t>
            </a:r>
          </a:p>
          <a:p>
            <a:pPr lvl="1"/>
            <a:r>
              <a:rPr lang="vi-VN" dirty="0"/>
              <a:t>c6_* – IAM roles cho control plane và worker nodes</a:t>
            </a:r>
          </a:p>
          <a:p>
            <a:pPr lvl="1"/>
            <a:r>
              <a:rPr lang="vi-VN" dirty="0"/>
              <a:t>c7_eks_cluster.tf – tạo EKS cluster</a:t>
            </a:r>
          </a:p>
          <a:p>
            <a:pPr lvl="1"/>
            <a:r>
              <a:rPr lang="vi-VN" dirty="0"/>
              <a:t>c9_eks_nodegroup_private.tf – node group t3.small</a:t>
            </a:r>
          </a:p>
        </p:txBody>
      </p:sp>
    </p:spTree>
    <p:extLst>
      <p:ext uri="{BB962C8B-B14F-4D97-AF65-F5344CB8AC3E}">
        <p14:creationId xmlns:p14="http://schemas.microsoft.com/office/powerpoint/2010/main" val="1548799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5447F-3FC5-6790-9220-CE32C5D1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XÂY DỰNG HẠ TẦNG VỚI TERRAFORM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DD9BBC3-D9E3-CEA4-40CB-777A5D854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9134" y="1825625"/>
            <a:ext cx="104537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126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17C6-9F7F-F4E0-3C67-905BAADE5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XÂY DỰNG HẠ TẦNG VỚI TERRAFORM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B200A2-3796-8060-B1CD-485B4683FB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5063" y="2141537"/>
            <a:ext cx="72618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02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AEA05-7965-5FD1-55A2-EF88F9550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CÀI ĐẶT AWS LOAD BALANCER CONTROLLER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70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AB7E8-D29E-399D-EDA4-E30297B1D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TẠO IAM POLICY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57E19F-B9C7-BEC3-BC43-F6B9168E6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38" y="1523013"/>
            <a:ext cx="9911124" cy="484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3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2AE96-3742-D334-1ED2-2C51B2701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POD IDENTITY ASSOCIATION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51F30D-A60A-7E3C-F315-82C033491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13" y="3272530"/>
            <a:ext cx="11460174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674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E072-FCC9-486E-CAE6-04AB06C47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Helm install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DA08F5-872E-579A-9578-5CE5889B4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2699700"/>
            <a:ext cx="11279174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082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57E55-8B3C-4E21-7A60-56CE10179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TRIỂN KHAI ỨNG DỤNG VỚI HELM UMBRELLA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B9E7E6-7319-FDA2-774D-3824717E5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2277" y="1825625"/>
            <a:ext cx="374744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965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247A-B6EE-D40F-C254-89CCDF7C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CI/CD VỚI GITHUB ACTIONS + OIDC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2A6EA-B12F-165A-A6B3-D5DBB3F10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b="1" dirty="0"/>
              <a:t>IAM Role</a:t>
            </a:r>
            <a:r>
              <a:rPr lang="en-US" dirty="0"/>
              <a:t> </a:t>
            </a:r>
            <a:r>
              <a:rPr lang="en-US" dirty="0" err="1"/>
              <a:t>GitHubActionsEKSRole</a:t>
            </a:r>
            <a:r>
              <a:rPr lang="en-US" dirty="0"/>
              <a:t> –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script setup-gh-oidc.sh</a:t>
            </a:r>
          </a:p>
          <a:p>
            <a:pPr algn="just"/>
            <a:r>
              <a:rPr lang="en-US" dirty="0"/>
              <a:t>Trust policy </a:t>
            </a:r>
            <a:r>
              <a:rPr lang="en-US" dirty="0" err="1"/>
              <a:t>cho</a:t>
            </a:r>
            <a:r>
              <a:rPr lang="en-US" dirty="0"/>
              <a:t> repository qly6/</a:t>
            </a:r>
            <a:r>
              <a:rPr lang="en-US" dirty="0" err="1"/>
              <a:t>AuthApp</a:t>
            </a:r>
            <a:endParaRPr lang="en-US" dirty="0"/>
          </a:p>
          <a:p>
            <a:pPr algn="just"/>
            <a:r>
              <a:rPr lang="en-US" b="1" dirty="0"/>
              <a:t>GitHub Secrets </a:t>
            </a:r>
            <a:r>
              <a:rPr lang="en-US" b="1" dirty="0" err="1"/>
              <a:t>cần</a:t>
            </a:r>
            <a:r>
              <a:rPr lang="en-US" b="1" dirty="0"/>
              <a:t> </a:t>
            </a:r>
            <a:r>
              <a:rPr lang="en-US" b="1" dirty="0" err="1"/>
              <a:t>có</a:t>
            </a:r>
            <a:r>
              <a:rPr lang="en-US" b="1" dirty="0"/>
              <a:t>:</a:t>
            </a:r>
            <a:r>
              <a:rPr lang="en-US" dirty="0"/>
              <a:t> DB_PASSWORD, JWT_SECRET</a:t>
            </a:r>
          </a:p>
          <a:p>
            <a:pPr algn="just"/>
            <a:r>
              <a:rPr lang="en-US" dirty="0"/>
              <a:t>Workflow .</a:t>
            </a:r>
            <a:r>
              <a:rPr lang="en-US" dirty="0" err="1"/>
              <a:t>github</a:t>
            </a:r>
            <a:r>
              <a:rPr lang="en-US" dirty="0"/>
              <a:t>/workflows/</a:t>
            </a:r>
            <a:r>
              <a:rPr lang="en-US" dirty="0" err="1"/>
              <a:t>deploy.yml</a:t>
            </a:r>
            <a:r>
              <a:rPr lang="en-US" dirty="0"/>
              <a:t> </a:t>
            </a:r>
            <a:r>
              <a:rPr lang="en-US" dirty="0" err="1"/>
              <a:t>gồm</a:t>
            </a:r>
            <a:r>
              <a:rPr lang="en-US" dirty="0"/>
              <a:t> 2 jobs:</a:t>
            </a:r>
          </a:p>
          <a:p>
            <a:pPr lvl="1" algn="just"/>
            <a:r>
              <a:rPr lang="en-US" dirty="0"/>
              <a:t>build-and-push – build Docker, push </a:t>
            </a:r>
            <a:r>
              <a:rPr lang="en-US" dirty="0" err="1"/>
              <a:t>lên</a:t>
            </a:r>
            <a:r>
              <a:rPr lang="en-US" dirty="0"/>
              <a:t> ECR</a:t>
            </a:r>
          </a:p>
          <a:p>
            <a:pPr lvl="1" algn="just"/>
            <a:r>
              <a:rPr lang="en-US" dirty="0"/>
              <a:t>deploy – helm upgrade </a:t>
            </a:r>
            <a:r>
              <a:rPr lang="en-US" dirty="0" err="1"/>
              <a:t>với</a:t>
            </a:r>
            <a:r>
              <a:rPr lang="en-US" dirty="0"/>
              <a:t> image tag </a:t>
            </a:r>
            <a:r>
              <a:rPr lang="en-US" dirty="0" err="1"/>
              <a:t>mới</a:t>
            </a:r>
            <a:endParaRPr lang="en-US" dirty="0"/>
          </a:p>
          <a:p>
            <a:pPr lvl="1"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44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E18E6-7CF1-700C-BF69-BFFD6670F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CI/CD VỚI GITHUB ACTIONS + OIDC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F17D8-7FA6-14F9-0CD4-FE2FEEDBE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059" y="1467637"/>
            <a:ext cx="9195881" cy="506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824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6CB87-B31E-A968-6044-6BDFA1D96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NỘI DUNG WORKFLOW PHẦN BUILD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472E8A-4E41-C0E7-95BE-E65762959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05" y="1478664"/>
            <a:ext cx="8482190" cy="501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329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45987-88B1-2593-9224-B2025186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ACA-D92E-98D6-F9F5-076A9A36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NỘI DUNG WORKFLOW PHẦN DELOY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AE262E-EE4E-396F-20B1-AE97DD27B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689" y="1462084"/>
            <a:ext cx="9526621" cy="525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429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5FFB4-D5B1-77C2-9167-4A2F27585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OUTPUT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141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17E009-AD1D-6E8E-AB15-20F2E8FE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8625"/>
            <a:ext cx="12192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795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565722-4A1D-9682-8B43-7DDC5A305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8625"/>
            <a:ext cx="12192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894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597</Words>
  <Application>Microsoft Office PowerPoint</Application>
  <PresentationFormat>Widescreen</PresentationFormat>
  <Paragraphs>85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quote-cjk-patch</vt:lpstr>
      <vt:lpstr>Office Theme</vt:lpstr>
      <vt:lpstr>HỆ THỐNG XÁC THỰC (SIMPLEAUTH)  TRÊN AWS EKS</vt:lpstr>
      <vt:lpstr>MỤC TIÊU &amp; TỔNG QUAN</vt:lpstr>
      <vt:lpstr>Technology Stack </vt:lpstr>
      <vt:lpstr>KIẾN TRÚC HẠ TẦNG  (INFRASTRUCTURE DIAGRAM)</vt:lpstr>
      <vt:lpstr>KIẾN TRÚC ỨNG DỤNG  (APPLICATION DIAGRAM)</vt:lpstr>
      <vt:lpstr>QUY TRÌNH CI/CD  (PIPELINE DIAGRAM)</vt:lpstr>
      <vt:lpstr>XÂY DỰNG HẠ TẦNG VỚI TERRAFORM</vt:lpstr>
      <vt:lpstr>XÂY DỰNG HẠ TẦNG VỚI TERRAFORM</vt:lpstr>
      <vt:lpstr>XÂY DỰNG HẠ TẦNG VỚI TERRAFORM</vt:lpstr>
      <vt:lpstr>CÀI ĐẶT AWS LOAD BALANCER CONTROLLER</vt:lpstr>
      <vt:lpstr>TẠO IAM POLICY</vt:lpstr>
      <vt:lpstr>POD IDENTITY ASSOCIATION</vt:lpstr>
      <vt:lpstr>Helm install</vt:lpstr>
      <vt:lpstr>TRIỂN KHAI ỨNG DỤNG VỚI HELM UMBRELLA</vt:lpstr>
      <vt:lpstr>CI/CD VỚI GITHUB ACTIONS + OIDC</vt:lpstr>
      <vt:lpstr>CI/CD VỚI GITHUB ACTIONS + OIDC</vt:lpstr>
      <vt:lpstr>NỘI DUNG WORKFLOW PHẦN BUILD</vt:lpstr>
      <vt:lpstr>NỘI DUNG WORKFLOW PHẦN DELOY</vt:lpstr>
      <vt:lpstr>OUTPUT 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Quyền Lý</dc:creator>
  <cp:lastModifiedBy>Quyền Lý</cp:lastModifiedBy>
  <cp:revision>51</cp:revision>
  <dcterms:created xsi:type="dcterms:W3CDTF">2026-05-05T12:51:03Z</dcterms:created>
  <dcterms:modified xsi:type="dcterms:W3CDTF">2026-05-05T16:25:27Z</dcterms:modified>
</cp:coreProperties>
</file>